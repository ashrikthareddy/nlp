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0" r:id="rId4"/>
    <p:sldId id="259" r:id="rId5"/>
    <p:sldId id="258" r:id="rId6"/>
    <p:sldId id="282" r:id="rId7"/>
    <p:sldId id="280" r:id="rId8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44" autoAdjust="0"/>
    <p:restoredTop sz="92998" autoAdjust="0"/>
  </p:normalViewPr>
  <p:slideViewPr>
    <p:cSldViewPr>
      <p:cViewPr>
        <p:scale>
          <a:sx n="33" d="100"/>
          <a:sy n="33" d="100"/>
        </p:scale>
        <p:origin x="1092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D4B07F-F831-4925-AB72-469A0AAF669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FBDA96-8CA2-4010-9709-2A3270F555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613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FBDA96-8CA2-4010-9709-2A3270F5555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0206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30" dirty="0"/>
              <a:t>‹#›</a:t>
            </a:fld>
            <a:endParaRPr spc="3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9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30" dirty="0"/>
              <a:t>‹#›</a:t>
            </a:fld>
            <a:endParaRPr spc="3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30" dirty="0"/>
              <a:t>‹#›</a:t>
            </a:fld>
            <a:endParaRPr spc="3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30" dirty="0"/>
              <a:t>‹#›</a:t>
            </a:fld>
            <a:endParaRPr spc="3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30" dirty="0"/>
              <a:t>‹#›</a:t>
            </a:fld>
            <a:endParaRPr spc="3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 /><Relationship Id="rId3" Type="http://schemas.openxmlformats.org/officeDocument/2006/relationships/slideLayout" Target="../slideLayouts/slideLayout3.xml" /><Relationship Id="rId7" Type="http://schemas.openxmlformats.org/officeDocument/2006/relationships/image" Target="../media/image1.png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889" y="43018"/>
            <a:ext cx="1229153" cy="1485091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647660" y="32547"/>
            <a:ext cx="1367016" cy="150630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21299" y="710104"/>
            <a:ext cx="16323310" cy="1746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21304" y="3219325"/>
            <a:ext cx="14816455" cy="3271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903976" y="10813246"/>
            <a:ext cx="299084" cy="263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9017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30" dirty="0"/>
              <a:t>‹#›</a:t>
            </a:fld>
            <a:endParaRPr spc="3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 /><Relationship Id="rId2" Type="http://schemas.openxmlformats.org/officeDocument/2006/relationships/package" Target="../embeddings/Microsoft_Excel_Worksheet.xlsx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738" y="0"/>
            <a:ext cx="1646138" cy="180752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95346" y="176331"/>
            <a:ext cx="1360139" cy="141864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455285" y="714412"/>
            <a:ext cx="9193530" cy="773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50" spc="39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SIMATS</a:t>
            </a:r>
            <a:r>
              <a:rPr sz="4950" spc="265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950" spc="505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sz="4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00262" y="1933965"/>
            <a:ext cx="15903575" cy="1384225"/>
          </a:xfrm>
          <a:prstGeom prst="rect">
            <a:avLst/>
          </a:prstGeom>
        </p:spPr>
        <p:txBody>
          <a:bodyPr vert="horz" wrap="square" lIns="0" tIns="163830" rIns="0" bIns="0" rtlCol="0">
            <a:spAutoFit/>
          </a:bodyPr>
          <a:lstStyle/>
          <a:p>
            <a:pPr marL="12065" marR="5080" algn="ctr">
              <a:lnSpc>
                <a:spcPct val="79900"/>
              </a:lnSpc>
              <a:spcBef>
                <a:spcPts val="1290"/>
              </a:spcBef>
            </a:pPr>
            <a:r>
              <a:rPr sz="4950" b="1" spc="35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Saveetha</a:t>
            </a:r>
            <a:r>
              <a:rPr sz="4950" b="1" spc="26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950" b="1" spc="195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Institute</a:t>
            </a:r>
            <a:r>
              <a:rPr sz="4950" b="1" spc="265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950" b="1" spc="21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950" b="1" spc="254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950" b="1" spc="30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Medical</a:t>
            </a:r>
            <a:r>
              <a:rPr sz="4950" b="1" spc="26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950" b="1" spc="33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4950" b="1" spc="254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950" b="1" spc="325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</a:t>
            </a:r>
            <a:r>
              <a:rPr sz="4950" b="1" spc="254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950" b="1" spc="48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Sciences </a:t>
            </a:r>
            <a:r>
              <a:rPr sz="4950" b="1" spc="290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Chennai-</a:t>
            </a:r>
            <a:r>
              <a:rPr sz="4950" b="1" spc="285" dirty="0">
                <a:solidFill>
                  <a:srgbClr val="EE23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602105.</a:t>
            </a:r>
            <a:endParaRPr sz="4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47202" y="8681637"/>
            <a:ext cx="5608283" cy="13874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0095" marR="755650" indent="2540" algn="ctr">
              <a:lnSpc>
                <a:spcPct val="100600"/>
              </a:lnSpc>
              <a:spcBef>
                <a:spcPts val="95"/>
              </a:spcBef>
            </a:pPr>
            <a:r>
              <a:rPr lang="en-GB" sz="29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Supervisor,</a:t>
            </a:r>
          </a:p>
          <a:p>
            <a:pPr marL="760095" marR="755650" indent="2540" algn="ctr">
              <a:lnSpc>
                <a:spcPct val="100600"/>
              </a:lnSpc>
              <a:spcBef>
                <a:spcPts val="95"/>
              </a:spcBef>
            </a:pPr>
            <a:r>
              <a:rPr lang="en-GB" sz="29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T Devi,</a:t>
            </a:r>
          </a:p>
          <a:p>
            <a:pPr marL="760095" marR="755650" indent="2540" algn="ctr">
              <a:lnSpc>
                <a:spcPct val="100600"/>
              </a:lnSpc>
              <a:spcBef>
                <a:spcPts val="95"/>
              </a:spcBef>
            </a:pPr>
            <a:r>
              <a:rPr lang="en-GB" sz="29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  <a:endParaRPr sz="29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8C090B-E2E9-B603-BFB8-14AF7A8C7FDF}"/>
              </a:ext>
            </a:extLst>
          </p:cNvPr>
          <p:cNvSpPr txBox="1"/>
          <p:nvPr/>
        </p:nvSpPr>
        <p:spPr>
          <a:xfrm>
            <a:off x="1034366" y="7379200"/>
            <a:ext cx="10045065" cy="2567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>
              <a:lnSpc>
                <a:spcPct val="100299"/>
              </a:lnSpc>
              <a:spcBef>
                <a:spcPts val="95"/>
              </a:spcBef>
            </a:pPr>
            <a:r>
              <a:rPr lang="en-IN" sz="3200" b="1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A. </a:t>
            </a:r>
            <a:r>
              <a:rPr lang="en-IN" sz="3200" b="1" spc="22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Ashriktha</a:t>
            </a:r>
            <a:r>
              <a:rPr lang="en-IN" sz="3200" b="1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Reddy</a:t>
            </a:r>
          </a:p>
          <a:p>
            <a:pPr marL="12700" marR="5080">
              <a:lnSpc>
                <a:spcPct val="100299"/>
              </a:lnSpc>
              <a:spcBef>
                <a:spcPts val="95"/>
              </a:spcBef>
            </a:pPr>
            <a:r>
              <a:rPr lang="en-IN" sz="3200" b="1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no:(192424172)</a:t>
            </a:r>
          </a:p>
          <a:p>
            <a:pPr marL="12700" marR="5080">
              <a:lnSpc>
                <a:spcPct val="100299"/>
              </a:lnSpc>
              <a:spcBef>
                <a:spcPts val="95"/>
              </a:spcBef>
            </a:pPr>
            <a:r>
              <a:rPr lang="en-IN" sz="3200" b="1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Code:DSA0304</a:t>
            </a:r>
          </a:p>
          <a:p>
            <a:pPr marL="12700" marR="5080">
              <a:lnSpc>
                <a:spcPct val="100299"/>
              </a:lnSpc>
              <a:spcBef>
                <a:spcPts val="95"/>
              </a:spcBef>
            </a:pPr>
            <a:r>
              <a:rPr lang="en-IN" sz="3200" b="1" spc="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Natural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Language Processing</a:t>
            </a:r>
            <a:endParaRPr lang="en-IN" sz="3200" b="1" spc="2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ct val="100299"/>
              </a:lnSpc>
              <a:spcBef>
                <a:spcPts val="95"/>
              </a:spcBef>
            </a:pPr>
            <a:endParaRPr lang="en-IN" sz="2950" b="1" spc="220" dirty="0"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A3B544-5139-3EC4-AEC9-A3824A8159F4}"/>
              </a:ext>
            </a:extLst>
          </p:cNvPr>
          <p:cNvSpPr txBox="1"/>
          <p:nvPr/>
        </p:nvSpPr>
        <p:spPr>
          <a:xfrm>
            <a:off x="2355850" y="3763813"/>
            <a:ext cx="165354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Inflectional Morphology: Understanding Grammatical Variations in Natural Language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46450" y="625475"/>
            <a:ext cx="11658600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IN" spc="4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pc="45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3899E9-66C3-F05A-73CD-3B600F1FCC2A}"/>
              </a:ext>
            </a:extLst>
          </p:cNvPr>
          <p:cNvSpPr txBox="1"/>
          <p:nvPr/>
        </p:nvSpPr>
        <p:spPr>
          <a:xfrm>
            <a:off x="835025" y="2835275"/>
            <a:ext cx="18434050" cy="7564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you search for the word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“cook"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Google.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 if a document contains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“cooked," “cooking," or “cooks,"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 still finds the correct results. 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it know that all these words are related?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answer is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Inflectional Morphology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Inflectional Morphology</a:t>
            </a:r>
          </a:p>
          <a:p>
            <a:pPr marL="457200" indent="-4572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Inflectional Morphology is a branch of Morphology that studies how the grammatical form of a word changes while preserving its core meaning and part of speech. These variations express grammatical information such as tense, number, comparison, and possession.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A2F789FA-29CD-BED8-7667-72E7DB7D58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486484"/>
              </p:ext>
            </p:extLst>
          </p:nvPr>
        </p:nvGraphicFramePr>
        <p:xfrm>
          <a:off x="9439275" y="5467350"/>
          <a:ext cx="12255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225659" imgH="374549" progId="Excel.Sheet.12">
                  <p:embed/>
                </p:oleObj>
              </mc:Choice>
              <mc:Fallback>
                <p:oleObj name="Worksheet" r:id="rId2" imgW="1225659" imgH="374549" progId="Excel.Shee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A2F789FA-29CD-BED8-7667-72E7DB7D58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439275" y="5467350"/>
                        <a:ext cx="1225550" cy="374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1503CD9-7652-B7F6-224D-60C8592263A7}"/>
              </a:ext>
            </a:extLst>
          </p:cNvPr>
          <p:cNvSpPr txBox="1"/>
          <p:nvPr/>
        </p:nvSpPr>
        <p:spPr>
          <a:xfrm>
            <a:off x="2889250" y="1006475"/>
            <a:ext cx="1607671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Inflectional Morphology Work?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B0D997-4ECA-F213-6586-94C7F273CD3D}"/>
              </a:ext>
            </a:extLst>
          </p:cNvPr>
          <p:cNvSpPr txBox="1"/>
          <p:nvPr/>
        </p:nvSpPr>
        <p:spPr>
          <a:xfrm>
            <a:off x="2889250" y="2454275"/>
            <a:ext cx="15565741" cy="331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Starts with the root (base) word.</a:t>
            </a:r>
          </a:p>
          <a:p>
            <a:pPr marL="571500" indent="-5715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Adds inflectional suffixes to express grammatical information. </a:t>
            </a:r>
          </a:p>
          <a:p>
            <a:pPr marL="571500" indent="-5715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meaning remains unchanged. The part of speech remains the same. </a:t>
            </a:r>
          </a:p>
          <a:p>
            <a:pPr marL="571500" indent="-5715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NLP systems identify different forms of the same word.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B149C1C-8280-85D6-5D7B-DDB8F5AFF1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9366093"/>
              </p:ext>
            </p:extLst>
          </p:nvPr>
        </p:nvGraphicFramePr>
        <p:xfrm>
          <a:off x="3199605" y="6569075"/>
          <a:ext cx="14930440" cy="39624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001280">
                  <a:extLst>
                    <a:ext uri="{9D8B030D-6E8A-4147-A177-3AD203B41FA5}">
                      <a16:colId xmlns:a16="http://schemas.microsoft.com/office/drawing/2014/main" val="4227306825"/>
                    </a:ext>
                  </a:extLst>
                </a:gridCol>
                <a:gridCol w="4964580">
                  <a:extLst>
                    <a:ext uri="{9D8B030D-6E8A-4147-A177-3AD203B41FA5}">
                      <a16:colId xmlns:a16="http://schemas.microsoft.com/office/drawing/2014/main" val="1443049163"/>
                    </a:ext>
                  </a:extLst>
                </a:gridCol>
                <a:gridCol w="4964580">
                  <a:extLst>
                    <a:ext uri="{9D8B030D-6E8A-4147-A177-3AD203B41FA5}">
                      <a16:colId xmlns:a16="http://schemas.microsoft.com/office/drawing/2014/main" val="85186668"/>
                    </a:ext>
                  </a:extLst>
                </a:gridCol>
              </a:tblGrid>
              <a:tr h="16734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Root 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Inflected Forms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Grammatical 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5673162"/>
                  </a:ext>
                </a:extLst>
              </a:tr>
              <a:tr h="76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Reads, Reading, Read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Tense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8137145"/>
                  </a:ext>
                </a:extLst>
              </a:tr>
              <a:tr h="76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Child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Children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Number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828654"/>
                  </a:ext>
                </a:extLst>
              </a:tr>
              <a:tr h="7629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Fast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Faster, Fastest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Degree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36436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33295" y="625475"/>
            <a:ext cx="16323310" cy="216790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9079">
              <a:spcBef>
                <a:spcPts val="105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Inflectional Morphology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pc="4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68CA425-EAE5-DB27-1ECB-BE5D97CD12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2984978"/>
            <a:ext cx="15767051" cy="62510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IN" sz="4000">
                <a:latin typeface="Times New Roman" panose="02020603050405020304" pitchFamily="18" charset="0"/>
                <a:cs typeface="Times New Roman" panose="02020603050405020304" pitchFamily="18" charset="0"/>
              </a:rPr>
              <a:t>Used in Grammar Checking and Text Processing systems.</a:t>
            </a:r>
            <a:endParaRPr kumimoji="0" lang="en-US" altLang="en-US" sz="4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marR="0" lvl="0" indent="-5715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IN" sz="4000" dirty="0"/>
              <a:t> 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Machine Translation by preserving grammatical forms.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Chatbots &amp; Virtual Assistants understand word variations. 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Search Engines by recognizing related word forms.</a:t>
            </a:r>
          </a:p>
          <a:p>
            <a:pPr marL="571500" marR="0" lvl="0" indent="-57150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Speech Recognition for accurate language processing.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627892-F3FA-E6D8-F21B-1DFD8C9EC2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0997" y="4054475"/>
            <a:ext cx="6400800" cy="46508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89650" y="854075"/>
            <a:ext cx="11277600" cy="109068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Visual Flow</a:t>
            </a:r>
            <a:endParaRPr spc="39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0170">
              <a:lnSpc>
                <a:spcPct val="100000"/>
              </a:lnSpc>
              <a:spcBef>
                <a:spcPts val="95"/>
              </a:spcBef>
            </a:pPr>
            <a:fld id="{81D60167-4931-47E6-BA6A-407CBD079E47}" type="slidenum">
              <a:rPr spc="30" dirty="0"/>
              <a:t>5</a:t>
            </a:fld>
            <a:endParaRPr spc="30" dirty="0"/>
          </a:p>
        </p:txBody>
      </p:sp>
      <p:sp>
        <p:nvSpPr>
          <p:cNvPr id="3" name="object 3"/>
          <p:cNvSpPr txBox="1"/>
          <p:nvPr/>
        </p:nvSpPr>
        <p:spPr>
          <a:xfrm>
            <a:off x="1021304" y="3219325"/>
            <a:ext cx="9569450" cy="966290"/>
          </a:xfrm>
          <a:prstGeom prst="rect">
            <a:avLst/>
          </a:prstGeom>
        </p:spPr>
        <p:txBody>
          <a:bodyPr vert="horz" wrap="square" lIns="0" tIns="354965" rIns="0" bIns="0" rtlCol="0">
            <a:spAutoFit/>
          </a:bodyPr>
          <a:lstStyle/>
          <a:p>
            <a:pPr marL="514984" indent="-502284">
              <a:lnSpc>
                <a:spcPct val="100000"/>
              </a:lnSpc>
              <a:spcBef>
                <a:spcPts val="2795"/>
              </a:spcBef>
              <a:buSzPct val="122784"/>
              <a:buChar char="•"/>
              <a:tabLst>
                <a:tab pos="514984" algn="l"/>
              </a:tabLst>
            </a:pPr>
            <a:endParaRPr lang="en-IN" sz="3950" dirty="0">
              <a:latin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7E5C4F-4A4A-84CD-9815-48763F8EB579}"/>
              </a:ext>
            </a:extLst>
          </p:cNvPr>
          <p:cNvSpPr txBox="1"/>
          <p:nvPr/>
        </p:nvSpPr>
        <p:spPr>
          <a:xfrm flipV="1">
            <a:off x="1726675" y="2841629"/>
            <a:ext cx="12342915" cy="148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N" sz="4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C2BD8-7E12-1BC5-16F9-523B4EC307EC}"/>
              </a:ext>
            </a:extLst>
          </p:cNvPr>
          <p:cNvSpPr txBox="1"/>
          <p:nvPr/>
        </p:nvSpPr>
        <p:spPr>
          <a:xfrm>
            <a:off x="2432050" y="3347822"/>
            <a:ext cx="10048672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Word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Cook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s   → Cooks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ed  → Cooked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ing → Cooking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Meaning</a:t>
            </a:r>
          </a:p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Grammatical Forms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48F4B1-174C-3F7D-34F1-69379E4E636A}"/>
              </a:ext>
            </a:extLst>
          </p:cNvPr>
          <p:cNvSpPr txBox="1"/>
          <p:nvPr/>
        </p:nvSpPr>
        <p:spPr>
          <a:xfrm>
            <a:off x="10590754" y="4905821"/>
            <a:ext cx="10048672" cy="4435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Explanation: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Word: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Cook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Inflectional Suffixes: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-s, -ed, -ing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different grammatical forms.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Meaning: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Remains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“Cook"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of Speech: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Remains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Verb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34072-3265-E802-58FF-BA6968282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4850" y="701675"/>
            <a:ext cx="20917951" cy="923330"/>
          </a:xfrm>
        </p:spPr>
        <p:txBody>
          <a:bodyPr/>
          <a:lstStyle/>
          <a:p>
            <a:pPr algn="just"/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Demonstration of Inflectional Morphology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79C84-4C27-1B79-452B-D83EC9FA6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225675"/>
            <a:ext cx="18821399" cy="9864239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</a:t>
            </a:r>
          </a:p>
          <a:p>
            <a:pPr rtl="0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en-IN" dirty="0"/>
              <a:t>:</a:t>
            </a:r>
          </a:p>
          <a:p>
            <a:pPr rtl="0"/>
            <a:r>
              <a:rPr lang="en-GB" dirty="0"/>
              <a:t>word = input("Enter the root word: ")</a:t>
            </a:r>
          </a:p>
          <a:p>
            <a:pPr rtl="0"/>
            <a:r>
              <a:rPr lang="en-GB" dirty="0"/>
              <a:t>print("\</a:t>
            </a:r>
            <a:r>
              <a:rPr lang="en-GB" dirty="0" err="1"/>
              <a:t>nInflectional</a:t>
            </a:r>
            <a:r>
              <a:rPr lang="en-GB" dirty="0"/>
              <a:t> Morphology")</a:t>
            </a:r>
          </a:p>
          <a:p>
            <a:pPr rtl="0"/>
            <a:r>
              <a:rPr lang="en-GB" dirty="0"/>
              <a:t>print("-" * 30)</a:t>
            </a:r>
          </a:p>
          <a:p>
            <a:pPr rtl="0"/>
            <a:r>
              <a:rPr lang="en-GB" dirty="0"/>
              <a:t>print("Root Word :", word)</a:t>
            </a:r>
          </a:p>
          <a:p>
            <a:pPr rtl="0"/>
            <a:r>
              <a:rPr lang="en-GB" dirty="0"/>
              <a:t>print("\</a:t>
            </a:r>
            <a:r>
              <a:rPr lang="en-GB" dirty="0" err="1"/>
              <a:t>nInflected</a:t>
            </a:r>
            <a:r>
              <a:rPr lang="en-GB" dirty="0"/>
              <a:t> Forms:")</a:t>
            </a:r>
          </a:p>
          <a:p>
            <a:pPr rtl="0"/>
            <a:r>
              <a:rPr lang="en-GB" dirty="0"/>
              <a:t>print(word + "s")</a:t>
            </a:r>
          </a:p>
          <a:p>
            <a:pPr rtl="0"/>
            <a:r>
              <a:rPr lang="en-GB" dirty="0"/>
              <a:t>print(word + "ed")</a:t>
            </a:r>
          </a:p>
          <a:p>
            <a:pPr rtl="0"/>
            <a:r>
              <a:rPr lang="en-GB" dirty="0"/>
              <a:t>print(word + "</a:t>
            </a:r>
            <a:r>
              <a:rPr lang="en-GB" dirty="0" err="1"/>
              <a:t>ing</a:t>
            </a:r>
            <a:r>
              <a:rPr lang="en-GB" dirty="0"/>
              <a:t>")</a:t>
            </a:r>
          </a:p>
          <a:p>
            <a:pPr rtl="0"/>
            <a:r>
              <a:rPr lang="en-GB" dirty="0"/>
              <a:t>print("\</a:t>
            </a:r>
            <a:r>
              <a:rPr lang="en-GB" dirty="0" err="1"/>
              <a:t>nMeaning</a:t>
            </a:r>
            <a:r>
              <a:rPr lang="en-GB" dirty="0"/>
              <a:t> : Same")</a:t>
            </a:r>
          </a:p>
          <a:p>
            <a:pPr rtl="0"/>
            <a:r>
              <a:rPr lang="en-GB" dirty="0"/>
              <a:t>print("Grammatical Forms : Different")</a:t>
            </a:r>
            <a:endParaRPr lang="en-IN" dirty="0"/>
          </a:p>
          <a:p>
            <a:endParaRPr lang="en-GB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A189D2-8A90-662B-407D-8E7F7A737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650" y="3444875"/>
            <a:ext cx="83058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5025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363F3-9C49-8F0A-564E-8DF35C164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3450" y="3902075"/>
            <a:ext cx="8915400" cy="1477328"/>
          </a:xfrm>
        </p:spPr>
        <p:txBody>
          <a:bodyPr/>
          <a:lstStyle/>
          <a:p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5927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409</TotalTime>
  <Words>409</Words>
  <Application>Microsoft Office PowerPoint</Application>
  <PresentationFormat>Custom</PresentationFormat>
  <Paragraphs>75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SIMATS ENGINEERING</vt:lpstr>
      <vt:lpstr>Introduction</vt:lpstr>
      <vt:lpstr>PowerPoint Presentation</vt:lpstr>
      <vt:lpstr>Applications of Inflectional Morphology </vt:lpstr>
      <vt:lpstr>Visual Flow</vt:lpstr>
      <vt:lpstr>Python Demonstration of Inflectional Morphology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CS1519 - Cloud Computing and Bigdata Analytics Capstone Project Template_Updated</dc:title>
  <dc:creator>RAVITEJA INABATHUNI</dc:creator>
  <cp:lastModifiedBy>Ashrikthareddy Annapureddy</cp:lastModifiedBy>
  <cp:revision>17</cp:revision>
  <dcterms:created xsi:type="dcterms:W3CDTF">2025-08-24T10:18:02Z</dcterms:created>
  <dcterms:modified xsi:type="dcterms:W3CDTF">2026-07-22T04:42:56Z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2025-08-24T00:00:00Z</vt:filetime>
  </property>
  <property fmtid="{D5CDD505-2E9C-101B-9397-08002B2CF9AE}" pid="3" name="Creator">
    <vt:lpwstr>Google</vt:lpwstr>
  </property>
  <property fmtid="{D5CDD505-2E9C-101B-9397-08002B2CF9AE}" pid="4" name="LastSaved">
    <vt:filetime>2025-08-24T00:00:00Z</vt:filetime>
  </property>
</Properties>
</file>